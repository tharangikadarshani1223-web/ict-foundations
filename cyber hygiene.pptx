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5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22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522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705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24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62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375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04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364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115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8035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8193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1862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850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863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7673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408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860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9290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5B3796-1671-4DCA-90E6-E81CBCEC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10185398" cy="165031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Name:  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M.T. Darshani</a:t>
            </a:r>
            <a:endParaRPr lang="en-US" dirty="0"/>
          </a:p>
          <a:p>
            <a:r>
              <a:rPr lang="en-US" b="1" dirty="0">
                <a:solidFill>
                  <a:srgbClr val="D6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ID: PSBUC/DIP/ICT/SL/26/LC/0015       </a:t>
            </a:r>
            <a:endParaRPr lang="en-US" dirty="0"/>
          </a:p>
          <a:p>
            <a:r>
              <a:rPr lang="en-US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Diploma in ICT  |  Assignment 01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  <a:p>
            <a:r>
              <a:rPr lang="en-US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March 2026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0ED73F5-3EA5-44A7-9CEB-72CBAA4A6292}"/>
              </a:ext>
            </a:extLst>
          </p:cNvPr>
          <p:cNvSpPr/>
          <p:nvPr/>
        </p:nvSpPr>
        <p:spPr>
          <a:xfrm>
            <a:off x="332510" y="1149927"/>
            <a:ext cx="11660082" cy="2027613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Using Digital Tools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AE34E07-BA23-4B97-9C1E-800EC4C492D1}"/>
              </a:ext>
            </a:extLst>
          </p:cNvPr>
          <p:cNvSpPr/>
          <p:nvPr/>
        </p:nvSpPr>
        <p:spPr>
          <a:xfrm>
            <a:off x="332510" y="1698567"/>
            <a:ext cx="11660082" cy="2027613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to Improve My</a:t>
            </a:r>
            <a:endParaRPr lang="en-US" sz="2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8E66181-54FA-4BF5-9DC0-25B3CA468897}"/>
              </a:ext>
            </a:extLst>
          </p:cNvPr>
          <p:cNvSpPr/>
          <p:nvPr/>
        </p:nvSpPr>
        <p:spPr>
          <a:xfrm>
            <a:off x="332510" y="2624507"/>
            <a:ext cx="9490364" cy="1650313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Learning Workflow</a:t>
            </a: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B7D889-2DEB-4D36-9A42-C0F6072D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019" y="1231504"/>
            <a:ext cx="6218836" cy="413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77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A0DAD5-F4BC-46ED-A670-12DFCFFAE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606" y="1346181"/>
            <a:ext cx="6149838" cy="3763701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C24E854-DA83-4223-A311-9CC1C8A38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7" y="636494"/>
            <a:ext cx="6149838" cy="5611905"/>
          </a:xfrm>
        </p:spPr>
        <p:txBody>
          <a:bodyPr/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Bold SemiConden" panose="020B0502040204020203" pitchFamily="34" charset="0"/>
              </a:rPr>
              <a:t>Password Strategy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>
                <a:latin typeface="Bahnschrift SemiBold SemiConden" panose="020B0502040204020203" pitchFamily="34" charset="0"/>
              </a:rPr>
              <a:t>Use strong passwords (8–12 characters)</a:t>
            </a:r>
          </a:p>
          <a:p>
            <a:r>
              <a:rPr lang="en-US" dirty="0">
                <a:latin typeface="Bahnschrift SemiBold SemiConden" panose="020B0502040204020203" pitchFamily="34" charset="0"/>
              </a:rPr>
              <a:t>• Mix letters, numbers, symbols</a:t>
            </a:r>
          </a:p>
          <a:p>
            <a:r>
              <a:rPr lang="en-US" dirty="0">
                <a:latin typeface="Bahnschrift SemiBold SemiConden" panose="020B0502040204020203" pitchFamily="34" charset="0"/>
              </a:rPr>
              <a:t>• Avoid personal info</a:t>
            </a:r>
          </a:p>
          <a:p>
            <a:r>
              <a:rPr lang="en-US" dirty="0">
                <a:latin typeface="Bahnschrift SemiBold SemiConden" panose="020B0502040204020203" pitchFamily="34" charset="0"/>
              </a:rPr>
              <a:t>• Use different passwords</a:t>
            </a:r>
          </a:p>
          <a:p>
            <a:r>
              <a:rPr lang="en-US" dirty="0">
                <a:latin typeface="Bahnschrift SemiBold SemiConden" panose="020B0502040204020203" pitchFamily="34" charset="0"/>
              </a:rPr>
              <a:t>• Change regularly</a:t>
            </a:r>
          </a:p>
          <a:p>
            <a:r>
              <a:rPr lang="en-US" dirty="0">
                <a:latin typeface="Bahnschrift SemiBold SemiConden" panose="020B0502040204020203" pitchFamily="34" charset="0"/>
              </a:rPr>
              <a:t>• Keep passwords private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017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3190-93D1-4D4D-BB9F-F93C5B43F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Bahnschrift SemiBold SemiConden" panose="020B0502040204020203" pitchFamily="34" charset="0"/>
              </a:rPr>
              <a:t>Phishing Awareness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CC211-CF6E-47CA-A407-5ECCAC7F8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Bell Gothic Std Black" panose="020B0706020202040204" pitchFamily="34" charset="0"/>
              </a:rPr>
              <a:t>Avoid suspicious links/emails</a:t>
            </a:r>
          </a:p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Bell Gothic Std Black" panose="020B0706020202040204" pitchFamily="34" charset="0"/>
              </a:rPr>
              <a:t>• Check sender address</a:t>
            </a:r>
          </a:p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Bell Gothic Std Black" panose="020B0706020202040204" pitchFamily="34" charset="0"/>
              </a:rPr>
              <a:t>• Don't download unknown files</a:t>
            </a:r>
          </a:p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Bell Gothic Std Black" panose="020B0706020202040204" pitchFamily="34" charset="0"/>
              </a:rPr>
              <a:t>• Look for spelling mistakes</a:t>
            </a:r>
          </a:p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Bell Gothic Std Black" panose="020B0706020202040204" pitchFamily="34" charset="0"/>
              </a:rPr>
              <a:t>• Never share personal info</a:t>
            </a:r>
          </a:p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Bell Gothic Std Black" panose="020B0706020202040204" pitchFamily="34" charset="0"/>
              </a:rPr>
              <a:t>• Ask when unsure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0F5E99-8410-44B7-8B40-A8BF3BBF1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502" y="1467691"/>
            <a:ext cx="5747710" cy="328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92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79AAA-79FC-4E13-AF2E-F61D50AF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Bahnschrift SemiBold SemiConden" panose="020B0502040204020203" pitchFamily="34" charset="0"/>
              </a:rPr>
              <a:t>Backup Habits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E6061-1EED-4916-A095-14ABBE982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Franklin Gothic Medium" panose="020B0603020102020204" pitchFamily="34" charset="0"/>
              </a:rPr>
              <a:t>Save files regularly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Franklin Gothic Medium" panose="020B0603020102020204" pitchFamily="34" charset="0"/>
              </a:rPr>
              <a:t>• Use USB or cloud storage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Franklin Gothic Medium" panose="020B0603020102020204" pitchFamily="34" charset="0"/>
              </a:rPr>
              <a:t>• Keep copies of school work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Franklin Gothic Medium" panose="020B0603020102020204" pitchFamily="34" charset="0"/>
              </a:rPr>
              <a:t>• Backup weekly</a:t>
            </a:r>
          </a:p>
          <a:p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Franklin Gothic Medium" panose="020B0603020102020204" pitchFamily="34" charset="0"/>
              </a:rPr>
              <a:t>• Store safely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D0E292-A867-463E-9089-60162AE51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623" y="1537652"/>
            <a:ext cx="6170613" cy="359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62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9120-D883-437A-BBC8-91DF273C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Bahnschrift SemiBold SemiConden" panose="020B0502040204020203" pitchFamily="34" charset="0"/>
              </a:rPr>
              <a:t>Safe Downloads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DD013-AA4B-4CCE-A324-23BE7F8D1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Franklin Gothic Medium" panose="020B0603020102020204" pitchFamily="34" charset="0"/>
              </a:rPr>
              <a:t>Trusted websites only</a:t>
            </a:r>
          </a:p>
          <a:p>
            <a:r>
              <a:rPr lang="en-US" dirty="0">
                <a:latin typeface="Franklin Gothic Medium" panose="020B0603020102020204" pitchFamily="34" charset="0"/>
              </a:rPr>
              <a:t> Avoid pirated content</a:t>
            </a:r>
          </a:p>
          <a:p>
            <a:r>
              <a:rPr lang="en-US" dirty="0">
                <a:latin typeface="Franklin Gothic Medium" panose="020B0603020102020204" pitchFamily="34" charset="0"/>
              </a:rPr>
              <a:t> Scan for viruses</a:t>
            </a:r>
          </a:p>
          <a:p>
            <a:r>
              <a:rPr lang="en-US" dirty="0">
                <a:latin typeface="Franklin Gothic Medium" panose="020B0603020102020204" pitchFamily="34" charset="0"/>
              </a:rPr>
              <a:t>Scan Before Opening</a:t>
            </a:r>
          </a:p>
          <a:p>
            <a:r>
              <a:rPr lang="en-US" dirty="0">
                <a:latin typeface="Franklin Gothic Medium" panose="020B0603020102020204" pitchFamily="34" charset="0"/>
              </a:rPr>
              <a:t>Extension Check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C1F92C-2791-4360-AA6C-71CFA110F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582" y="1204325"/>
            <a:ext cx="5871322" cy="447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66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D379387-F8D9-42A7-B0D2-3811ADFAE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946246"/>
              </p:ext>
            </p:extLst>
          </p:nvPr>
        </p:nvGraphicFramePr>
        <p:xfrm>
          <a:off x="646111" y="1853248"/>
          <a:ext cx="10263936" cy="4108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21312">
                  <a:extLst>
                    <a:ext uri="{9D8B030D-6E8A-4147-A177-3AD203B41FA5}">
                      <a16:colId xmlns:a16="http://schemas.microsoft.com/office/drawing/2014/main" val="2928489397"/>
                    </a:ext>
                  </a:extLst>
                </a:gridCol>
                <a:gridCol w="3421312">
                  <a:extLst>
                    <a:ext uri="{9D8B030D-6E8A-4147-A177-3AD203B41FA5}">
                      <a16:colId xmlns:a16="http://schemas.microsoft.com/office/drawing/2014/main" val="3991768510"/>
                    </a:ext>
                  </a:extLst>
                </a:gridCol>
                <a:gridCol w="3421312">
                  <a:extLst>
                    <a:ext uri="{9D8B030D-6E8A-4147-A177-3AD203B41FA5}">
                      <a16:colId xmlns:a16="http://schemas.microsoft.com/office/drawing/2014/main" val="4169081676"/>
                    </a:ext>
                  </a:extLst>
                </a:gridCol>
              </a:tblGrid>
              <a:tr h="8216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636032"/>
                  </a:ext>
                </a:extLst>
              </a:tr>
              <a:tr h="8216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92303"/>
                  </a:ext>
                </a:extLst>
              </a:tr>
              <a:tr h="8216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094395"/>
                  </a:ext>
                </a:extLst>
              </a:tr>
              <a:tr h="8216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03521"/>
                  </a:ext>
                </a:extLst>
              </a:tr>
              <a:tr h="8216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9901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0A0921C-1F2C-4DC3-8F94-49868E114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Bold SemiConden" panose="020B0502040204020203" pitchFamily="34" charset="0"/>
              </a:rPr>
              <a:t>Personal Action Plan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70DE2C-DA4F-4D41-893F-9229EEB989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9872660"/>
              </p:ext>
            </p:extLst>
          </p:nvPr>
        </p:nvGraphicFramePr>
        <p:xfrm>
          <a:off x="1290918" y="1853249"/>
          <a:ext cx="9618759" cy="4284804"/>
        </p:xfrm>
        <a:graphic>
          <a:graphicData uri="http://schemas.openxmlformats.org/drawingml/2006/table">
            <a:tbl>
              <a:tblPr/>
              <a:tblGrid>
                <a:gridCol w="3433482">
                  <a:extLst>
                    <a:ext uri="{9D8B030D-6E8A-4147-A177-3AD203B41FA5}">
                      <a16:colId xmlns:a16="http://schemas.microsoft.com/office/drawing/2014/main" val="324577463"/>
                    </a:ext>
                  </a:extLst>
                </a:gridCol>
                <a:gridCol w="2832847">
                  <a:extLst>
                    <a:ext uri="{9D8B030D-6E8A-4147-A177-3AD203B41FA5}">
                      <a16:colId xmlns:a16="http://schemas.microsoft.com/office/drawing/2014/main" val="1906798604"/>
                    </a:ext>
                  </a:extLst>
                </a:gridCol>
                <a:gridCol w="3352430">
                  <a:extLst>
                    <a:ext uri="{9D8B030D-6E8A-4147-A177-3AD203B41FA5}">
                      <a16:colId xmlns:a16="http://schemas.microsoft.com/office/drawing/2014/main" val="3801382864"/>
                    </a:ext>
                  </a:extLst>
                </a:gridCol>
              </a:tblGrid>
              <a:tr h="83052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ahnschrift SemiBold SemiConden" panose="020B0502040204020203" pitchFamily="34" charset="0"/>
                        </a:rPr>
                        <a:t>Action 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ahnschrift SemiBold SemiConden" panose="020B0502040204020203" pitchFamily="34" charset="0"/>
                        </a:rPr>
                        <a:t>Frequency                             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Bahnschrift SemiBold SemiConden" panose="020B0502040204020203" pitchFamily="34" charset="0"/>
                        </a:rPr>
                        <a:t>Goal</a:t>
                      </a:r>
                    </a:p>
                    <a:p>
                      <a:endParaRPr lang="en-US" sz="18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Bahnschrift SemiBold SemiConden" panose="020B0502040204020203" pitchFamily="34" charset="0"/>
                      </a:endParaRPr>
                    </a:p>
                    <a:p>
                      <a:endParaRPr lang="en-US" sz="18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Bahnschrift SemiBold SemiConden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56766"/>
                  </a:ext>
                </a:extLst>
              </a:tr>
              <a:tr h="63707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Bell Gothic Std Black" panose="020B0706020202040204" pitchFamily="34" charset="0"/>
                        </a:rPr>
                        <a:t>Software Updates</a:t>
                      </a:r>
                      <a:endParaRPr lang="en-US" dirty="0">
                        <a:solidFill>
                          <a:schemeClr val="bg1"/>
                        </a:solidFill>
                        <a:latin typeface="Bell Gothic Std Black" panose="020B0706020202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Bell Gothic Std Black" panose="020B0706020202040204" pitchFamily="34" charset="0"/>
                        </a:rPr>
                        <a:t>Weekly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Bell Gothic Std Black" panose="020B0706020202040204" pitchFamily="34" charset="0"/>
                        </a:rPr>
                        <a:t>Patch security vulnerabilities immediately.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072871"/>
                  </a:ext>
                </a:extLst>
              </a:tr>
              <a:tr h="91010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Bell Gothic Std Black" panose="020B0706020202040204" pitchFamily="34" charset="0"/>
                        </a:rPr>
                        <a:t>Privacy Audit</a:t>
                      </a:r>
                      <a:endParaRPr lang="en-US" dirty="0">
                        <a:solidFill>
                          <a:schemeClr val="bg1"/>
                        </a:solidFill>
                        <a:latin typeface="Bell Gothic Std Black" panose="020B0706020202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Bell Gothic Std Black" panose="020B0706020202040204" pitchFamily="34" charset="0"/>
                        </a:rPr>
                        <a:t>Monthly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Bell Gothic Std Black" panose="020B0706020202040204" pitchFamily="34" charset="0"/>
                        </a:rPr>
                        <a:t>Review social media settings and app permissions.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110545"/>
                  </a:ext>
                </a:extLst>
              </a:tr>
              <a:tr h="91010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Bell Gothic Std Black" panose="020B0706020202040204" pitchFamily="34" charset="0"/>
                        </a:rPr>
                        <a:t>MFA Check</a:t>
                      </a:r>
                      <a:endParaRPr lang="en-US" dirty="0">
                        <a:solidFill>
                          <a:schemeClr val="bg1"/>
                        </a:solidFill>
                        <a:latin typeface="Bell Gothic Std Black" panose="020B0706020202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Bell Gothic Std Black" panose="020B0706020202040204" pitchFamily="34" charset="0"/>
                        </a:rPr>
                        <a:t>Immediate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Bell Gothic Std Black" panose="020B0706020202040204" pitchFamily="34" charset="0"/>
                        </a:rPr>
                        <a:t>Ensure all "Primary" accounts have 2FA enabled.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127942"/>
                  </a:ext>
                </a:extLst>
              </a:tr>
              <a:tr h="91010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Bell Gothic Std Black" panose="020B0706020202040204" pitchFamily="34" charset="0"/>
                        </a:rPr>
                        <a:t>Public Wi-Fi</a:t>
                      </a:r>
                      <a:endParaRPr lang="en-US" dirty="0">
                        <a:solidFill>
                          <a:schemeClr val="bg1"/>
                        </a:solidFill>
                        <a:latin typeface="Bell Gothic Std Black" panose="020B0706020202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Bell Gothic Std Black" panose="020B0706020202040204" pitchFamily="34" charset="0"/>
                        </a:rPr>
                        <a:t>Ongoing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Bell Gothic Std Black" panose="020B0706020202040204" pitchFamily="34" charset="0"/>
                        </a:rPr>
                        <a:t>Use a VPN or mobile hotspot for schoolwork in cafes.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334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880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52</TotalTime>
  <Words>202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Bahnschrift SemiBold SemiConden</vt:lpstr>
      <vt:lpstr>Bell Gothic Std Black</vt:lpstr>
      <vt:lpstr>Calibri</vt:lpstr>
      <vt:lpstr>Century Gothic</vt:lpstr>
      <vt:lpstr>Franklin Gothic Medium</vt:lpstr>
      <vt:lpstr>Wingdings 3</vt:lpstr>
      <vt:lpstr>Ion</vt:lpstr>
      <vt:lpstr>PowerPoint Presentation</vt:lpstr>
      <vt:lpstr>PowerPoint Presentation</vt:lpstr>
      <vt:lpstr>Phishing Awareness</vt:lpstr>
      <vt:lpstr>Backup Habits</vt:lpstr>
      <vt:lpstr>Safe Downloads</vt:lpstr>
      <vt:lpstr>Personal Action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tharangika darshani</dc:creator>
  <cp:lastModifiedBy>tharangika darshani</cp:lastModifiedBy>
  <cp:revision>12</cp:revision>
  <dcterms:created xsi:type="dcterms:W3CDTF">2026-03-31T15:06:40Z</dcterms:created>
  <dcterms:modified xsi:type="dcterms:W3CDTF">2026-03-31T15:59:14Z</dcterms:modified>
</cp:coreProperties>
</file>